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390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  <a:latin typeface="Calibri"/>
              </a:defRPr>
            </a:pPr>
            <a:r>
              <a:t>Задача 2. Фаза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Анализ архитектур TTS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5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Модель TTS — архитектура, обучение, оценка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840480"/>
            <a:ext cx="3657600" cy="457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Calibri"/>
              </a:defRPr>
            </a:pPr>
            <a:r>
              <a:rPr lang="ru-RU" dirty="0"/>
              <a:t>Зверков </a:t>
            </a:r>
            <a:r>
              <a:rPr lang="ru-RU" dirty="0" err="1"/>
              <a:t>Серегей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Голосовой ассистент с эмоциональным синтезом речи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Содержание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54864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Обзор TTS-архитектур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Tacotron2, FastSpeech2, VITS, Grad-TTS, StyleTTS2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54864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Методы Emotion Conditioning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Embedding, GST, Reference Encoder, VAE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39"/>
            <a:ext cx="54864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Анализ GPU-требований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546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Расчёт VRAM для Kaggle T4 (16 GB)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79"/>
            <a:ext cx="54864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Обоснование выбора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31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VITS + Emotion Embedding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54864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Архитектура модели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Схема компонентов VITS + Emotion Conditioning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66360"/>
            <a:ext cx="54864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Выводы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Параметры для реализации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1. Обзор TTS-архитектур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516759"/>
              </p:ext>
            </p:extLst>
          </p:nvPr>
        </p:nvGraphicFramePr>
        <p:xfrm>
          <a:off x="457199" y="1097280"/>
          <a:ext cx="11291978" cy="44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7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56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917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Архитектура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Год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Скорость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Вокодер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VRAM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Сложность</a:t>
                      </a:r>
                      <a:endParaRPr dirty="0"/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1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Tacotron2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Авторегрессивная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~4.0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Медленная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Нужен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8-12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Средняя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1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FastSpeech2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Non-autoregressive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Нужен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6-10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Низкая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1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VITS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End-to-end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~4.2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Быстрая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Встроен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10-14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Средняя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1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Grad-TTS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Диффузионная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Нужен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12-16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Высокая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1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StyleTTS2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/>
                        <a:t>Style-diffusion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~4.4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Встроен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14-20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Высокая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8169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rPr dirty="0"/>
              <a:t>VITS — </a:t>
            </a: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баланс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 (MOS 4.2), </a:t>
            </a:r>
            <a:r>
              <a:rPr dirty="0" err="1"/>
              <a:t>скорости</a:t>
            </a:r>
            <a:r>
              <a:rPr dirty="0"/>
              <a:t> и VRAM </a:t>
            </a:r>
            <a:r>
              <a:rPr dirty="0" err="1"/>
              <a:t>для</a:t>
            </a:r>
            <a:r>
              <a:rPr dirty="0"/>
              <a:t> Kaggle T4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1. Архитектуры TTS — ключевые особенности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Tacotron2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2018, Google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03120" cy="228600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Авторегрессия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Attention → Mel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Нужен вокодер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MOS ~4.0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210312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FastSpeech2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2020, Microsoft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2103120" cy="228600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Параллельная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Variance Adaptor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Нужен вокодер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MOS ~3.8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097280"/>
            <a:ext cx="210312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2021, Kakao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920240"/>
            <a:ext cx="2103120" cy="228600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End-to-end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VAE + Flow + GAN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Встроен вокодер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MOS ~4.2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097280"/>
            <a:ext cx="210312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Grad-TTS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2021, Huawei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920240"/>
            <a:ext cx="2103120" cy="228600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Диффузия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Score-based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Нужен вокодер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MOS ~4.1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097280"/>
            <a:ext cx="21031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StyleTTS2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920240"/>
            <a:ext cx="2103120" cy="228600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Style Diffusion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Нативные стили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Встроен вокодер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MOS ~4.4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VRAM &gt; 16 GB!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891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▲ </a:t>
            </a:r>
            <a:r>
              <a:rPr dirty="0" err="1"/>
              <a:t>Выбранная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lang="ru-RU" dirty="0"/>
              <a:t> </a:t>
            </a:r>
            <a:r>
              <a:rPr lang="en-US" dirty="0"/>
              <a:t>VIST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2. Методы Emotion Conditioning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177241"/>
              </p:ext>
            </p:extLst>
          </p:nvPr>
        </p:nvGraphicFramePr>
        <p:xfrm>
          <a:off x="575381" y="1097280"/>
          <a:ext cx="10827877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6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3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Метод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Описание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Плюсы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Минусы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Для нас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nn.Embedding</a:t>
                      </a:r>
                      <a:r>
                        <a:rPr dirty="0"/>
                        <a:t>(4, 128)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/>
                        <a:t>→ </a:t>
                      </a:r>
                      <a:r>
                        <a:rPr dirty="0" err="1"/>
                        <a:t>concat</a:t>
                      </a:r>
                      <a:r>
                        <a:rPr dirty="0"/>
                        <a:t> с text enc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Простота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Явный контроль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Стабильность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Ч</a:t>
                      </a:r>
                      <a:r>
                        <a:rPr dirty="0" err="1"/>
                        <a:t>исло</a:t>
                      </a:r>
                      <a:endParaRPr dirty="0"/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эмоций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 Отлично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Банк стилевых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токенов +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Богатые стили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Без меток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Избыточно</a:t>
                      </a:r>
                      <a:endParaRPr dirty="0"/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для</a:t>
                      </a:r>
                      <a:r>
                        <a:rPr dirty="0"/>
                        <a:t> 4 </a:t>
                      </a:r>
                      <a:r>
                        <a:rPr dirty="0" err="1"/>
                        <a:t>классов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⚠️ Возможно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Encoder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Стиль из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референс-аудио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Копирование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стиля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Нужен референс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при инференсе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❌ Нет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VAE-based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Латентное простр.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стилей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Разнообразие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Интерполяция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KL collapse</a:t>
                      </a:r>
                    </a:p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Нестабильность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/>
                        <a:t>⚠️ </a:t>
                      </a:r>
                      <a:r>
                        <a:rPr dirty="0" err="1"/>
                        <a:t>Рискованно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8720" y="508406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rPr dirty="0" err="1"/>
              <a:t>Выбор</a:t>
            </a:r>
            <a:r>
              <a:rPr dirty="0"/>
              <a:t>: Emotion Embedding — </a:t>
            </a:r>
            <a:r>
              <a:rPr dirty="0" err="1"/>
              <a:t>простой</a:t>
            </a:r>
            <a:r>
              <a:rPr dirty="0"/>
              <a:t>, </a:t>
            </a:r>
            <a:r>
              <a:rPr dirty="0" err="1"/>
              <a:t>стабильный</a:t>
            </a:r>
            <a:r>
              <a:rPr dirty="0"/>
              <a:t>, </a:t>
            </a:r>
            <a:r>
              <a:rPr dirty="0" err="1"/>
              <a:t>явный</a:t>
            </a:r>
            <a:r>
              <a:rPr dirty="0"/>
              <a:t>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4 </a:t>
            </a:r>
            <a:r>
              <a:rPr dirty="0" err="1"/>
              <a:t>классов</a:t>
            </a:r>
            <a:r>
              <a:rPr dirty="0"/>
              <a:t> </a:t>
            </a:r>
            <a:r>
              <a:rPr dirty="0" err="1"/>
              <a:t>эмоций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3. Анализ GPU-требований (Kaggle T4)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73152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NVIDIA Tesla T4 | 16 GB VRAM | FP16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Активации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Итого VRAM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Статус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1.2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1.8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/>
                        <a:t>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4.8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/>
                        <a:t>5.4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 Рекомендуется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10.2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 Максимальный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14.4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15.0 GB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✅ Рискованно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19.2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19.8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/>
                        <a:t>❌ </a:t>
                      </a:r>
                      <a:r>
                        <a:rPr dirty="0" err="1"/>
                        <a:t>Не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влезает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6779" y="5460733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rPr dirty="0" err="1"/>
              <a:t>Формула</a:t>
            </a:r>
            <a:r>
              <a:rPr dirty="0"/>
              <a:t> </a:t>
            </a:r>
            <a:r>
              <a:rPr dirty="0" err="1"/>
              <a:t>расчёта</a:t>
            </a:r>
            <a:r>
              <a:rPr dirty="0"/>
              <a:t> VRAM: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VRAM ≈ params × 4 (weights)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      + params × 4 (gradients)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      + params × 8 (Adam states)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      + batch × activations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1223" y="546073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• VITS </a:t>
            </a:r>
            <a:r>
              <a:rPr dirty="0" err="1"/>
              <a:t>генератор</a:t>
            </a:r>
            <a:r>
              <a:rPr dirty="0"/>
              <a:t>: ~28M params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• Discriminator: ~9.5M params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• Emotion Embedding: 512 params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Базовый</a:t>
            </a:r>
            <a:r>
              <a:rPr dirty="0"/>
              <a:t> VRAM: ~0.6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6084" y="6075146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rPr lang="ru-RU" dirty="0"/>
              <a:t>Лучший вариант</a:t>
            </a:r>
            <a:r>
              <a:rPr dirty="0"/>
              <a:t>: </a:t>
            </a:r>
            <a:r>
              <a:rPr dirty="0" err="1"/>
              <a:t>batch_size</a:t>
            </a:r>
            <a:r>
              <a:rPr dirty="0"/>
              <a:t> = 16–32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D88A261-D10E-83B2-EB11-FC1B245C4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97"/>
          <a:stretch/>
        </p:blipFill>
        <p:spPr>
          <a:xfrm>
            <a:off x="6424863" y="1913627"/>
            <a:ext cx="5309937" cy="346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4. Обоснование выбора: VITS + Emotion Embedding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Почему VITS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743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91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Нет отдельного вокодера — проще пайплайн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743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MOS ~4.2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Один из лучших среди end-to-end моделей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2743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Быстрый инференс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Параллельный, ≤3 сек на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2743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10–14 GB VRAM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Комфортно на Kaggle T4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2743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Модифицируемость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Легко добавить Emotion Embedding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2743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Эталонная</a:t>
            </a:r>
            <a:r>
              <a:rPr dirty="0"/>
              <a:t> </a:t>
            </a:r>
            <a:r>
              <a:rPr dirty="0" err="1"/>
              <a:t>реализация</a:t>
            </a:r>
            <a:r>
              <a:rPr dirty="0"/>
              <a:t>, </a:t>
            </a:r>
            <a:r>
              <a:rPr dirty="0" err="1"/>
              <a:t>хорошая</a:t>
            </a:r>
            <a:r>
              <a:rPr dirty="0"/>
              <a:t> </a:t>
            </a:r>
            <a:r>
              <a:rPr dirty="0" err="1"/>
              <a:t>документация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6400800" y="1097280"/>
            <a:ext cx="50292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Почему Emotion Embedding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737360"/>
            <a:ext cx="2743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691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 класса эмоций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691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Идеально для дискретного embedding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240280"/>
            <a:ext cx="2743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+512 параметров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Минимальное усложнение архитектуры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743200"/>
            <a:ext cx="2743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Стабильное обучение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Критично для Kaggle (до 12ч сессии)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246120"/>
            <a:ext cx="2743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Явный контроль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ID эмоции → нужная окраска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46320"/>
            <a:ext cx="10515600" cy="45720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Tacotron2 — медленный | FastSpeech2 — нужен вокодер | Grad-TTS — на границе VRAM | StyleTTS2 — VRAM &gt; 16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5. Архитектура VITS + Emotion Conditioning (обучение)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645920" cy="5486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Фонемы</a:t>
            </a:r>
            <a:br/>
            <a:r>
              <a:t>(текст)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20240"/>
            <a:ext cx="164592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Эмоция</a:t>
            </a:r>
            <a:br/>
            <a:r>
              <a:t>(ID: 0-3)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743200"/>
            <a:ext cx="1645920" cy="5486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Аудио</a:t>
            </a:r>
            <a:br/>
            <a:r>
              <a:t>(wav)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097280"/>
            <a:ext cx="182880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Text Encoder</a:t>
            </a:r>
            <a:br/>
            <a:r>
              <a:t>(Transformer 6L)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920240"/>
            <a:ext cx="182880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Emotion Embedding</a:t>
            </a:r>
            <a:br/>
            <a:r>
              <a:t>(4 → 128)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109728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Concat</a:t>
            </a:r>
            <a:br/>
            <a:r>
              <a:t>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914400"/>
            <a:ext cx="164592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Prior</a:t>
            </a:r>
            <a:br/>
            <a:r>
              <a:t>(m_p, logs_p)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164592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Duration</a:t>
            </a:r>
            <a:br/>
            <a:r>
              <a:t>Predictor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743200"/>
            <a:ext cx="182880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Posterior Encoder</a:t>
            </a:r>
            <a:br/>
            <a:r>
              <a:t>(WaveNet 16L)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1097280" cy="5486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z</a:t>
            </a:r>
            <a:br/>
            <a:r>
              <a:t>(latent)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68880"/>
            <a:ext cx="1645920" cy="5486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Normalizing</a:t>
            </a:r>
            <a:br/>
            <a:r>
              <a:t>Flow (4L)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13716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KL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182880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Generator</a:t>
            </a:r>
            <a:br/>
            <a:r>
              <a:t>(HiFi-GAN v1)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2743200"/>
            <a:ext cx="137160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Аудио</a:t>
            </a:r>
            <a:br/>
            <a:r>
              <a:t>(wav)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657600"/>
            <a:ext cx="182880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Discriminator</a:t>
            </a:r>
            <a:br/>
            <a:r>
              <a:t>(MPD + MSD)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3657600"/>
            <a:ext cx="13716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91440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Emotion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572000"/>
            <a:ext cx="91440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4572000"/>
            <a:ext cx="914400" cy="2743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Posterior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4572000"/>
            <a:ext cx="914400" cy="2743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4572000"/>
            <a:ext cx="914400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Audio 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572000"/>
            <a:ext cx="91440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5. Поток данных при инференсе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" y="1828800"/>
            <a:ext cx="1280160" cy="73152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5472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828800"/>
            <a:ext cx="128016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G2P</a:t>
            </a:r>
            <a:br/>
            <a:r>
              <a:t>(espeak-ng)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439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128016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Text Enc</a:t>
            </a:r>
            <a:br/>
            <a:r>
              <a:t>+ Emotion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8804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128016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Duration</a:t>
            </a:r>
            <a:br/>
            <a:r>
              <a:t>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047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1280160" cy="7315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Expand</a:t>
            </a:r>
            <a:br/>
            <a:r>
              <a:t>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351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1280160" cy="7315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  <a:br/>
            <a:r>
              <a:t>(reverse)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7924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128016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HiFi-GAN</a:t>
            </a:r>
            <a:br/>
            <a: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0964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828800"/>
            <a:ext cx="128016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Аудио 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914400"/>
            <a:ext cx="128016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Эмоция (ID)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Ключевые параметры: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Вход: русский текст + ID эмоции (0=neutral, 1=happy, 2=sad, 3=angry)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G2P: grapheme-to-phoneme через espeak-ng (русский)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Emotion Embedding: nn.Embedding(4, 128) → concat с Text Encoder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Выход: аудио 22050 Hz, 16-bit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Латентность: ≤ 3 сек на CPU (требование ТЗ)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5. Параметры модели VITS + Emotion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86489"/>
              </p:ext>
            </p:extLst>
          </p:nvPr>
        </p:nvGraphicFramePr>
        <p:xfrm>
          <a:off x="457200" y="1097280"/>
          <a:ext cx="11397916" cy="448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Параметры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Описание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Text Encoder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~6.5M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Transformer, 6 слоёв, relative pos. encoding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Emotion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nn.Embedding(4, 128) + Linear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Posterior Encoder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~5.2M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WaveNet, 16 блоков, non-causal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Normalizing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~4.8M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 Residual Coupling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Generator (HiFi-GAN)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~8.5M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Multi-receptive field fusion, upsample [8,8,2,2]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Duration Predictor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~1.2M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3-layer Conv1d + LayerNorm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Stoch. Duration Pred.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~1.8M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Стохастический + posterior network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Discriminator (MPD+MSD)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~9.5M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 периодов + 3 масштаба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ИТОГО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~37.5M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/>
                        <a:t>Полная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модель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для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обучения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6. Выводы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515600" cy="36576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28600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Оптимальный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: end-to-end, MOS ~4.2,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инференс</a:t>
            </a:r>
            <a:r>
              <a:rPr dirty="0"/>
              <a:t>, 10–14 GB VRAM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28600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Emotion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11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Простой</a:t>
            </a:r>
            <a:r>
              <a:rPr dirty="0"/>
              <a:t> и </a:t>
            </a:r>
            <a:r>
              <a:rPr dirty="0" err="1"/>
              <a:t>надёжный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4 </a:t>
            </a:r>
            <a:r>
              <a:rPr dirty="0" err="1"/>
              <a:t>классов</a:t>
            </a:r>
            <a:r>
              <a:rPr dirty="0"/>
              <a:t> </a:t>
            </a:r>
            <a:r>
              <a:rPr dirty="0" err="1"/>
              <a:t>эмоций</a:t>
            </a:r>
            <a:r>
              <a:rPr dirty="0"/>
              <a:t> (+512 </a:t>
            </a:r>
            <a:r>
              <a:rPr dirty="0" err="1"/>
              <a:t>параметров</a:t>
            </a:r>
            <a:r>
              <a:rPr dirty="0"/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28600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Kaggle T4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34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помещается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batch_size</a:t>
            </a:r>
            <a:r>
              <a:rPr dirty="0"/>
              <a:t> 16–32, </a:t>
            </a:r>
            <a:r>
              <a:rPr dirty="0" err="1"/>
              <a:t>обучение</a:t>
            </a:r>
            <a:r>
              <a:rPr dirty="0"/>
              <a:t> 200–500k </a:t>
            </a:r>
            <a:r>
              <a:rPr dirty="0" err="1"/>
              <a:t>шагов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28600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Архитектура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657600"/>
            <a:ext cx="777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rPr lang="ru-RU" dirty="0"/>
              <a:t>Р</a:t>
            </a:r>
            <a:r>
              <a:rPr dirty="0" err="1"/>
              <a:t>еализация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PyTorch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515600" cy="548640"/>
          </a:xfrm>
          <a:prstGeom prst="round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527209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800" b="1">
                <a:solidFill>
                  <a:srgbClr val="00E696"/>
                </a:solidFill>
                <a:latin typeface="Calibri"/>
              </a:defRPr>
            </a:pP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→ </a:t>
            </a:r>
            <a:r>
              <a:rPr dirty="0" err="1"/>
              <a:t>Фаза</a:t>
            </a:r>
            <a:r>
              <a:rPr dirty="0"/>
              <a:t> 2: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и </a:t>
            </a:r>
            <a:r>
              <a:rPr dirty="0" err="1"/>
              <a:t>обучающего</a:t>
            </a:r>
            <a:r>
              <a:rPr dirty="0"/>
              <a:t> </a:t>
            </a:r>
            <a:r>
              <a:rPr dirty="0" err="1"/>
              <a:t>пайплайна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982</Words>
  <Application>Microsoft Office PowerPoint</Application>
  <PresentationFormat>Широкоэкранный</PresentationFormat>
  <Paragraphs>317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 Зверков</cp:lastModifiedBy>
  <cp:revision>3</cp:revision>
  <dcterms:created xsi:type="dcterms:W3CDTF">2013-01-27T09:14:16Z</dcterms:created>
  <dcterms:modified xsi:type="dcterms:W3CDTF">2026-03-18T03:23:54Z</dcterms:modified>
  <cp:category/>
</cp:coreProperties>
</file>